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875DC"/>
                </a:solidFill>
                <a:latin typeface="Aptos"/>
              </a:rPr>
              <a:t>PROYEK UTS STRUKTUR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5212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3395B"/>
                </a:solidFill>
                <a:latin typeface="Aptos"/>
              </a:rPr>
              <a:t>NusantaraGo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5074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26477"/>
                </a:solidFill>
                <a:latin typeface="Aptos"/>
              </a:rPr>
              <a:t>Website ticketing perjalanan dengan Struct, Array, Pointer, Sorting, Searching, dan Log.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999232"/>
            <a:ext cx="4251960" cy="603504"/>
          </a:xfrm>
          <a:prstGeom prst="roundRect">
            <a:avLst/>
          </a:prstGeom>
          <a:solidFill>
            <a:srgbClr val="FFDB49"/>
          </a:solidFill>
          <a:ln>
            <a:solidFill>
              <a:srgbClr val="FFD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191256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3395B"/>
                </a:solidFill>
                <a:latin typeface="Aptos"/>
              </a:rPr>
              <a:t>Muhammad Hanif  •  NIM: [ISI NIM]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913632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477"/>
                </a:solidFill>
                <a:latin typeface="Aptos"/>
              </a:rPr>
              <a:t>Tema: Ticketing (NIM Genap)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24728" y="630936"/>
            <a:ext cx="5797296" cy="5468112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eb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69187"/>
            <a:ext cx="5742432" cy="41916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46520" y="614476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75DC"/>
                </a:solidFill>
                <a:latin typeface="Aptos"/>
              </a:rPr>
              <a:t>tugas-struktur-data-rose.vercel.app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875DC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3395B"/>
                </a:solidFill>
                <a:latin typeface="Aptos"/>
              </a:rPr>
              <a:t>Gambaran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49808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26477"/>
                </a:solidFill>
                <a:latin typeface="Aptos"/>
              </a:rPr>
              <a:t>Tampilan pengguna tetap seperti aplikasi travel pada umumnya.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207008"/>
            <a:ext cx="6867144" cy="4626864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eb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79" y="1234440"/>
            <a:ext cx="6263560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234440"/>
            <a:ext cx="4114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41732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875DC"/>
                </a:solidFill>
                <a:latin typeface="Aptos"/>
              </a:rPr>
              <a:t>INTI PENJELASAN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801368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3395B"/>
                </a:solidFill>
                <a:latin typeface="Aptos"/>
              </a:defRPr>
            </a:pPr>
            <a:r>
              <a:t>•  Kategori: pesawat, hotel, kereta, bus &amp; travel, dan wisata.</a:t>
            </a:r>
          </a:p>
          <a:p>
            <a:pPr>
              <a:spcAft>
                <a:spcPts val="1000"/>
              </a:spcAft>
              <a:defRPr sz="1400">
                <a:solidFill>
                  <a:srgbClr val="13395B"/>
                </a:solidFill>
                <a:latin typeface="Aptos"/>
              </a:defRPr>
            </a:pPr>
            <a:r>
              <a:t>•  Pencarian rute, tanggal perjalanan, jumlah tiket atau kamar.</a:t>
            </a:r>
          </a:p>
          <a:p>
            <a:pPr>
              <a:spcAft>
                <a:spcPts val="1000"/>
              </a:spcAft>
              <a:defRPr sz="1400">
                <a:solidFill>
                  <a:srgbClr val="13395B"/>
                </a:solidFill>
                <a:latin typeface="Aptos"/>
              </a:defRPr>
            </a:pPr>
            <a:r>
              <a:t>•  Checkout, voucher, pembayaran simulasi, e-ticket, reschedule, dan refund.</a:t>
            </a:r>
          </a:p>
          <a:p>
            <a:pPr>
              <a:spcAft>
                <a:spcPts val="1000"/>
              </a:spcAft>
              <a:defRPr sz="1400">
                <a:solidFill>
                  <a:srgbClr val="13395B"/>
                </a:solidFill>
                <a:latin typeface="Aptos"/>
              </a:defRPr>
            </a:pPr>
            <a:r>
              <a:t>•  Algoritma bekerja pada data katalog di script.js.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089904"/>
            <a:ext cx="11183112" cy="475488"/>
          </a:xfrm>
          <a:prstGeom prst="roundRect">
            <a:avLst/>
          </a:prstGeom>
          <a:solidFill>
            <a:srgbClr val="E8F4FF"/>
          </a:solidFill>
          <a:ln>
            <a:solidFill>
              <a:srgbClr val="E8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623620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875DC"/>
                </a:solidFill>
                <a:latin typeface="Aptos"/>
              </a:rPr>
              <a:t>UCAPKAN: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6181344"/>
            <a:ext cx="989380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3395B"/>
                </a:solidFill>
                <a:latin typeface="Aptos"/>
              </a:rPr>
              <a:t>Website ini adalah simulasi aplikasi ticketing perjalanan bernama NusantaraGo. Fokus tugas struktur data berada pada file script.js.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875DC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3395B"/>
                </a:solidFill>
                <a:latin typeface="Aptos"/>
              </a:rPr>
              <a:t>Struct dan Array of Struct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49808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26477"/>
                </a:solidFill>
                <a:latin typeface="Aptos"/>
              </a:rPr>
              <a:t>File: script.js — ItemServiceStruct, servicesArray, dan initializeArray()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143000"/>
            <a:ext cx="5495544" cy="4581144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de_str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286"/>
            <a:ext cx="5440680" cy="372257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80759" y="1143000"/>
            <a:ext cx="5632703" cy="4581144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de_ar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2006981"/>
            <a:ext cx="5577840" cy="28531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6089904"/>
            <a:ext cx="11183112" cy="475488"/>
          </a:xfrm>
          <a:prstGeom prst="roundRect">
            <a:avLst/>
          </a:prstGeom>
          <a:solidFill>
            <a:srgbClr val="E8F4FF"/>
          </a:solidFill>
          <a:ln>
            <a:solidFill>
              <a:srgbClr val="E8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623620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875DC"/>
                </a:solidFill>
                <a:latin typeface="Aptos"/>
              </a:rPr>
              <a:t>UCAPKAN: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6181344"/>
            <a:ext cx="989380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3395B"/>
                </a:solidFill>
                <a:latin typeface="Aptos"/>
              </a:rPr>
              <a:t>JavaScript tidak memiliki keyword struct, jadi saya memakai class. Setiap objek layanan kemudian disimpan di servicesArray sebagai array of struct.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875DC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3395B"/>
                </a:solidFill>
                <a:latin typeface="Aptos"/>
              </a:rPr>
              <a:t>Pointer sebagai referensi objek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49808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26477"/>
                </a:solidFill>
                <a:latin typeface="Aptos"/>
              </a:rPr>
              <a:t>File: script.js — selectedItemPointer dan swapByPointer()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7" y="1252728"/>
            <a:ext cx="6455664" cy="4489703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de_poi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48899"/>
            <a:ext cx="6400800" cy="249736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78040" y="1280160"/>
            <a:ext cx="44805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463039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28463"/>
                </a:solidFill>
                <a:latin typeface="Aptos"/>
              </a:rPr>
              <a:t>INTI PENJELASAN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847088"/>
            <a:ext cx="40233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3395B"/>
                </a:solidFill>
                <a:latin typeface="Aptos"/>
              </a:defRPr>
            </a:pPr>
            <a:r>
              <a:t>•  JavaScript memakai referensi objek, bukan pointer eksplisit seperti C/C++.</a:t>
            </a:r>
          </a:p>
          <a:p>
            <a:pPr>
              <a:spcAft>
                <a:spcPts val="1000"/>
              </a:spcAft>
              <a:defRPr sz="1400">
                <a:solidFill>
                  <a:srgbClr val="13395B"/>
                </a:solidFill>
                <a:latin typeface="Aptos"/>
              </a:defRPr>
            </a:pPr>
            <a:r>
              <a:t>•  selectedItemPointer menunjuk layanan yang sedang aktif.</a:t>
            </a:r>
          </a:p>
          <a:p>
            <a:pPr>
              <a:spcAft>
                <a:spcPts val="1000"/>
              </a:spcAft>
              <a:defRPr sz="1400">
                <a:solidFill>
                  <a:srgbClr val="13395B"/>
                </a:solidFill>
                <a:latin typeface="Aptos"/>
              </a:defRPr>
            </a:pPr>
            <a:r>
              <a:t>•  swapByPointer menukar dua referensi objek di dalam array.</a:t>
            </a:r>
          </a:p>
          <a:p>
            <a:pPr>
              <a:spcAft>
                <a:spcPts val="1000"/>
              </a:spcAft>
              <a:defRPr sz="1400">
                <a:solidFill>
                  <a:srgbClr val="13395B"/>
                </a:solidFill>
                <a:latin typeface="Aptos"/>
              </a:defRPr>
            </a:pPr>
            <a:r>
              <a:t>•  Alamat heksadesimal pada aplikasi hanya simulasi untuk visualisasi.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089904"/>
            <a:ext cx="11183112" cy="475488"/>
          </a:xfrm>
          <a:prstGeom prst="roundRect">
            <a:avLst/>
          </a:prstGeom>
          <a:solidFill>
            <a:srgbClr val="E8F4FF"/>
          </a:solidFill>
          <a:ln>
            <a:solidFill>
              <a:srgbClr val="E8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623620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875DC"/>
                </a:solidFill>
                <a:latin typeface="Aptos"/>
              </a:rPr>
              <a:t>UCAPKAN: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6181344"/>
            <a:ext cx="989380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3395B"/>
                </a:solidFill>
                <a:latin typeface="Aptos"/>
              </a:rPr>
              <a:t>Pointer pada proyek ini direpresentasikan sebagai referensi objek. Fungsi swapByPointer dipakai oleh kedua algoritma sorting.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875DC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3395B"/>
                </a:solidFill>
                <a:latin typeface="Aptos"/>
              </a:rPr>
              <a:t>Bubble Sort — O(n²)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49808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26477"/>
                </a:solidFill>
                <a:latin typeface="Aptos"/>
              </a:rPr>
              <a:t>Membandingkan dua elemen bersebelahan dan menukarnya bila salah urutan.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161288"/>
            <a:ext cx="6958583" cy="4764024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de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65" y="1188720"/>
            <a:ext cx="6699629" cy="4709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188720"/>
            <a:ext cx="406908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371600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875DC"/>
                </a:solidFill>
                <a:latin typeface="Aptos"/>
              </a:rPr>
              <a:t>INTI PENJELASAN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755648"/>
            <a:ext cx="36118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3395B"/>
                </a:solidFill>
                <a:latin typeface="Aptos"/>
              </a:defRPr>
            </a:pPr>
            <a:r>
              <a:t>•  Loop luar menentukan jumlah pass.</a:t>
            </a:r>
          </a:p>
          <a:p>
            <a:pPr>
              <a:spcAft>
                <a:spcPts val="1000"/>
              </a:spcAft>
              <a:defRPr sz="1400">
                <a:solidFill>
                  <a:srgbClr val="13395B"/>
                </a:solidFill>
                <a:latin typeface="Aptos"/>
              </a:defRPr>
            </a:pPr>
            <a:r>
              <a:t>•  Loop dalam membandingkan indeks j dan j + 1.</a:t>
            </a:r>
          </a:p>
          <a:p>
            <a:pPr>
              <a:spcAft>
                <a:spcPts val="1000"/>
              </a:spcAft>
              <a:defRPr sz="1400">
                <a:solidFill>
                  <a:srgbClr val="13395B"/>
                </a:solidFill>
                <a:latin typeface="Aptos"/>
              </a:defRPr>
            </a:pPr>
            <a:r>
              <a:t>•  shouldSwap menentukan perlu tidaknya pertukaran.</a:t>
            </a:r>
          </a:p>
          <a:p>
            <a:pPr>
              <a:spcAft>
                <a:spcPts val="1000"/>
              </a:spcAft>
              <a:defRPr sz="1400">
                <a:solidFill>
                  <a:srgbClr val="13395B"/>
                </a:solidFill>
                <a:latin typeface="Aptos"/>
              </a:defRPr>
            </a:pPr>
            <a:r>
              <a:t>•  Berhenti lebih awal jika satu pass tidak melakukan swap.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089904"/>
            <a:ext cx="11183112" cy="475488"/>
          </a:xfrm>
          <a:prstGeom prst="roundRect">
            <a:avLst/>
          </a:prstGeom>
          <a:solidFill>
            <a:srgbClr val="E8F4FF"/>
          </a:solidFill>
          <a:ln>
            <a:solidFill>
              <a:srgbClr val="E8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623620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875DC"/>
                </a:solidFill>
                <a:latin typeface="Aptos"/>
              </a:rPr>
              <a:t>UCAPKAN: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6181344"/>
            <a:ext cx="989380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3395B"/>
                </a:solidFill>
                <a:latin typeface="Aptos"/>
              </a:rPr>
              <a:t>Bubble Sort membandingkan elemen yang bersebelahan. Jika urutannya salah, referensi ditukar dengan swapByPointer.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875DC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3395B"/>
                </a:solidFill>
                <a:latin typeface="Aptos"/>
              </a:rPr>
              <a:t>Selection Sort — O(n²)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49808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26477"/>
                </a:solidFill>
                <a:latin typeface="Aptos"/>
              </a:rPr>
              <a:t>Mencari kandidat terbaik dari bagian array yang belum terurut.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161288"/>
            <a:ext cx="6958583" cy="4764024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de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11097"/>
            <a:ext cx="6903720" cy="446440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188720"/>
            <a:ext cx="406908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371600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875DC"/>
                </a:solidFill>
                <a:latin typeface="Aptos"/>
              </a:rPr>
              <a:t>INTI PENJELASAN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755648"/>
            <a:ext cx="36118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3395B"/>
                </a:solidFill>
                <a:latin typeface="Aptos"/>
              </a:defRPr>
            </a:pPr>
            <a:r>
              <a:t>•  targetIdx menyimpan indeks kandidat terbaik.</a:t>
            </a:r>
          </a:p>
          <a:p>
            <a:pPr>
              <a:spcAft>
                <a:spcPts val="1000"/>
              </a:spcAft>
              <a:defRPr sz="1400">
                <a:solidFill>
                  <a:srgbClr val="13395B"/>
                </a:solidFill>
                <a:latin typeface="Aptos"/>
              </a:defRPr>
            </a:pPr>
            <a:r>
              <a:t>•  Setiap elemen tersisa dibandingkan dengan kandidat.</a:t>
            </a:r>
          </a:p>
          <a:p>
            <a:pPr>
              <a:spcAft>
                <a:spcPts val="1000"/>
              </a:spcAft>
              <a:defRPr sz="1400">
                <a:solidFill>
                  <a:srgbClr val="13395B"/>
                </a:solidFill>
                <a:latin typeface="Aptos"/>
              </a:defRPr>
            </a:pPr>
            <a:r>
              <a:t>•  Setelah kandidat ditemukan, dilakukan satu swap untuk posisi tersebut.</a:t>
            </a:r>
          </a:p>
          <a:p>
            <a:pPr>
              <a:spcAft>
                <a:spcPts val="1000"/>
              </a:spcAft>
              <a:defRPr sz="1400">
                <a:solidFill>
                  <a:srgbClr val="13395B"/>
                </a:solidFill>
                <a:latin typeface="Aptos"/>
              </a:defRPr>
            </a:pPr>
            <a:r>
              <a:t>•  Untuk 18 data: 18 × 17 ÷ 2 = 153 perbandingan.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089904"/>
            <a:ext cx="11183112" cy="475488"/>
          </a:xfrm>
          <a:prstGeom prst="roundRect">
            <a:avLst/>
          </a:prstGeom>
          <a:solidFill>
            <a:srgbClr val="E8F4FF"/>
          </a:solidFill>
          <a:ln>
            <a:solidFill>
              <a:srgbClr val="E8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623620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875DC"/>
                </a:solidFill>
                <a:latin typeface="Aptos"/>
              </a:rPr>
              <a:t>UCAPKAN: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6181344"/>
            <a:ext cx="989380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3395B"/>
                </a:solidFill>
                <a:latin typeface="Aptos"/>
              </a:rPr>
              <a:t>Selection Sort mencari kandidat terbaik untuk setiap posisi. Dengan 18 data, algoritma menghasilkan 153 perbandingan.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875DC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3395B"/>
                </a:solidFill>
                <a:latin typeface="Aptos"/>
              </a:rPr>
              <a:t>Linear Search — O(n)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49808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26477"/>
                </a:solidFill>
                <a:latin typeface="Aptos"/>
              </a:rPr>
              <a:t>Memeriksa data secara berurutan dari indeks pertama sampai terakhir.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161288"/>
            <a:ext cx="6958583" cy="4764024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de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96951"/>
            <a:ext cx="6903720" cy="429269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188720"/>
            <a:ext cx="406908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371600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875DC"/>
                </a:solidFill>
                <a:latin typeface="Aptos"/>
              </a:rPr>
              <a:t>INTI PENJELASAN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755648"/>
            <a:ext cx="36118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3395B"/>
                </a:solidFill>
                <a:latin typeface="Aptos"/>
              </a:defRPr>
            </a:pPr>
            <a:r>
              <a:t>•  Kata kunci dinormalisasi menjadi huruf kecil.</a:t>
            </a:r>
          </a:p>
          <a:p>
            <a:pPr>
              <a:spcAft>
                <a:spcPts val="1000"/>
              </a:spcAft>
              <a:defRPr sz="1400">
                <a:solidFill>
                  <a:srgbClr val="13395B"/>
                </a:solidFill>
                <a:latin typeface="Aptos"/>
              </a:defRPr>
            </a:pPr>
            <a:r>
              <a:t>•  Pencocokan dilakukan pada nama, lokasi, kategori, penyelenggara, dan kelas.</a:t>
            </a:r>
          </a:p>
          <a:p>
            <a:pPr>
              <a:spcAft>
                <a:spcPts val="1000"/>
              </a:spcAft>
              <a:defRPr sz="1400">
                <a:solidFill>
                  <a:srgbClr val="13395B"/>
                </a:solidFill>
                <a:latin typeface="Aptos"/>
              </a:defRPr>
            </a:pPr>
            <a:r>
              <a:t>•  Data cocok dimasukkan ke matchesFound.</a:t>
            </a:r>
          </a:p>
          <a:p>
            <a:pPr>
              <a:spcAft>
                <a:spcPts val="1000"/>
              </a:spcAft>
              <a:defRPr sz="1400">
                <a:solidFill>
                  <a:srgbClr val="13395B"/>
                </a:solidFill>
                <a:latin typeface="Aptos"/>
              </a:defRPr>
            </a:pPr>
            <a:r>
              <a:t>•  searchResultIds dipakai untuk memfilter kartu pada katalog.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089904"/>
            <a:ext cx="11183112" cy="475488"/>
          </a:xfrm>
          <a:prstGeom prst="roundRect">
            <a:avLst/>
          </a:prstGeom>
          <a:solidFill>
            <a:srgbClr val="E8F4FF"/>
          </a:solidFill>
          <a:ln>
            <a:solidFill>
              <a:srgbClr val="E8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623620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875DC"/>
                </a:solidFill>
                <a:latin typeface="Aptos"/>
              </a:rPr>
              <a:t>UCAPKAN: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6181344"/>
            <a:ext cx="989380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3395B"/>
                </a:solidFill>
                <a:latin typeface="Aptos"/>
              </a:rPr>
              <a:t>Linear Search memeriksa seluruh elemen satu per satu. Hasil yang cocok disimpan lalu ditampilkan kembali pada katalog.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875DC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3395B"/>
                </a:solidFill>
                <a:latin typeface="Aptos"/>
              </a:rPr>
              <a:t>Log algoritma &amp; mode 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49808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26477"/>
                </a:solidFill>
                <a:latin typeface="Aptos"/>
              </a:rPr>
              <a:t>Log memenuhi ketentuan tugas tanpa mengganggu tampilan pengguna biasa.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207008"/>
            <a:ext cx="6501383" cy="4581144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de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00391"/>
            <a:ext cx="6446520" cy="439437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78040" y="1234440"/>
            <a:ext cx="4480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41732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28463"/>
                </a:solidFill>
                <a:latin typeface="Aptos"/>
              </a:rPr>
              <a:t>INTI PENJELASAN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801368"/>
            <a:ext cx="40233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3395B"/>
                </a:solidFill>
                <a:latin typeface="Aptos"/>
              </a:defRPr>
            </a:pPr>
            <a:r>
              <a:t>•  appendLogEntry mencatat compare, swap, match, mismatch, pointer, dan done.</a:t>
            </a:r>
          </a:p>
          <a:p>
            <a:pPr>
              <a:spcAft>
                <a:spcPts val="1000"/>
              </a:spcAft>
              <a:defRPr sz="1400">
                <a:solidFill>
                  <a:srgbClr val="13395B"/>
                </a:solidFill>
                <a:latin typeface="Aptos"/>
              </a:defRPr>
            </a:pPr>
            <a:r>
              <a:t>•  Statistik menampilkan jumlah perbandingan, pertukaran, dan iterasi.</a:t>
            </a:r>
          </a:p>
          <a:p>
            <a:pPr>
              <a:spcAft>
                <a:spcPts val="1000"/>
              </a:spcAft>
              <a:defRPr sz="1400">
                <a:solidFill>
                  <a:srgbClr val="13395B"/>
                </a:solidFill>
                <a:latin typeface="Aptos"/>
              </a:defRPr>
            </a:pPr>
            <a:r>
              <a:t>•  Tampilan normal menyembunyikan panel akademik.</a:t>
            </a:r>
          </a:p>
          <a:p>
            <a:pPr>
              <a:spcAft>
                <a:spcPts val="1000"/>
              </a:spcAft>
              <a:defRPr sz="1400">
                <a:solidFill>
                  <a:srgbClr val="13395B"/>
                </a:solidFill>
                <a:latin typeface="Aptos"/>
              </a:defRPr>
            </a:pPr>
            <a:r>
              <a:t>•  Tekan Ctrl + Shift + L untuk membuka atau menutup panel log.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089904"/>
            <a:ext cx="11183112" cy="475488"/>
          </a:xfrm>
          <a:prstGeom prst="roundRect">
            <a:avLst/>
          </a:prstGeom>
          <a:solidFill>
            <a:srgbClr val="E8F4FF"/>
          </a:solidFill>
          <a:ln>
            <a:solidFill>
              <a:srgbClr val="E8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623620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875DC"/>
                </a:solidFill>
                <a:latin typeface="Aptos"/>
              </a:rPr>
              <a:t>UCAPKAN: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6181344"/>
            <a:ext cx="989380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3395B"/>
                </a:solidFill>
                <a:latin typeface="Aptos"/>
              </a:rPr>
              <a:t>Setiap langkah sorting dan searching dicatat. Untuk demonstrasi, panel log dapat dibuka dengan shortcut Ctrl, Shift, dan 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875DC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3395B"/>
                </a:solidFill>
                <a:latin typeface="Aptos"/>
              </a:rPr>
              <a:t>Urutan demonstrasi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49808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26477"/>
                </a:solidFill>
                <a:latin typeface="Aptos"/>
              </a:rPr>
              <a:t>Gunakan urutan ini saat merekam ulang agar penjelasan singkat dan runtut.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48006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444752"/>
            <a:ext cx="658368" cy="658368"/>
          </a:xfrm>
          <a:prstGeom prst="ellipse">
            <a:avLst/>
          </a:prstGeom>
          <a:solidFill>
            <a:srgbClr val="08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8191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17320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3395B"/>
                </a:solidFill>
                <a:latin typeface="Aptos"/>
              </a:rPr>
              <a:t>Buka website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783080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477"/>
                </a:solidFill>
                <a:latin typeface="Aptos"/>
              </a:rPr>
              <a:t>Jelaskan kategori dan pencarian.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1234440"/>
            <a:ext cx="48006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52160" y="1444752"/>
            <a:ext cx="658368" cy="658368"/>
          </a:xfrm>
          <a:prstGeom prst="ellipse">
            <a:avLst/>
          </a:prstGeom>
          <a:solidFill>
            <a:srgbClr val="08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158191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417320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3395B"/>
                </a:solidFill>
                <a:latin typeface="Aptos"/>
              </a:rPr>
              <a:t>Tampilkan Struct &amp; Array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783080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477"/>
                </a:solidFill>
                <a:latin typeface="Aptos"/>
              </a:rPr>
              <a:t>Gunakan slide 3.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624328"/>
            <a:ext cx="48006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2834640"/>
            <a:ext cx="658368" cy="658368"/>
          </a:xfrm>
          <a:prstGeom prst="ellipse">
            <a:avLst/>
          </a:prstGeom>
          <a:solidFill>
            <a:srgbClr val="08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971800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80720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3395B"/>
                </a:solidFill>
                <a:latin typeface="Aptos"/>
              </a:rPr>
              <a:t>Jelaskan Pointer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17296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477"/>
                </a:solidFill>
                <a:latin typeface="Aptos"/>
              </a:rPr>
              <a:t>Gunakan slide 4.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2624328"/>
            <a:ext cx="48006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52160" y="2834640"/>
            <a:ext cx="658368" cy="658368"/>
          </a:xfrm>
          <a:prstGeom prst="ellipse">
            <a:avLst/>
          </a:prstGeom>
          <a:solidFill>
            <a:srgbClr val="08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2971800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80720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3395B"/>
                </a:solidFill>
                <a:latin typeface="Aptos"/>
              </a:rPr>
              <a:t>Demo Sorting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17296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477"/>
                </a:solidFill>
                <a:latin typeface="Aptos"/>
              </a:rPr>
              <a:t>Bubble lalu Selection Sort.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014216"/>
            <a:ext cx="48006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7240" y="4224528"/>
            <a:ext cx="658368" cy="658368"/>
          </a:xfrm>
          <a:prstGeom prst="ellipse">
            <a:avLst/>
          </a:prstGeom>
          <a:solidFill>
            <a:srgbClr val="08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361688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197096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3395B"/>
                </a:solidFill>
                <a:latin typeface="Aptos"/>
              </a:rPr>
              <a:t>Demo Searching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562856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477"/>
                </a:solidFill>
                <a:latin typeface="Aptos"/>
              </a:rPr>
              <a:t>Cari Garuda atau Bali.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0" y="4014216"/>
            <a:ext cx="48006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52160" y="4224528"/>
            <a:ext cx="658368" cy="658368"/>
          </a:xfrm>
          <a:prstGeom prst="ellipse">
            <a:avLst/>
          </a:prstGeom>
          <a:solidFill>
            <a:srgbClr val="08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0" y="4361688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197096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3395B"/>
                </a:solidFill>
                <a:latin typeface="Aptos"/>
              </a:rPr>
              <a:t>Tampilkan 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562856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477"/>
                </a:solidFill>
                <a:latin typeface="Aptos"/>
              </a:rPr>
              <a:t>Tekan Ctrl + Shift + 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88168" y="1234440"/>
            <a:ext cx="1170432" cy="3886200"/>
          </a:xfrm>
          <a:prstGeom prst="roundRect">
            <a:avLst/>
          </a:prstGeom>
          <a:solidFill>
            <a:srgbClr val="E8F4FF"/>
          </a:solidFill>
          <a:ln>
            <a:solidFill>
              <a:srgbClr val="E8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website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184" y="1536192"/>
            <a:ext cx="914400" cy="9144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616184" y="260604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875DC"/>
                </a:solidFill>
                <a:latin typeface="Aptos"/>
              </a:rPr>
              <a:t>LIVE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34472" y="2953512"/>
            <a:ext cx="8686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3395B"/>
                </a:solidFill>
                <a:latin typeface="Aptos"/>
              </a:rPr>
              <a:t>Scan untuk membuka website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6089904"/>
            <a:ext cx="11183112" cy="475488"/>
          </a:xfrm>
          <a:prstGeom prst="roundRect">
            <a:avLst/>
          </a:prstGeom>
          <a:solidFill>
            <a:srgbClr val="E8F4FF"/>
          </a:solidFill>
          <a:ln>
            <a:solidFill>
              <a:srgbClr val="E8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4944" y="623620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875DC"/>
                </a:solidFill>
                <a:latin typeface="Aptos"/>
              </a:rPr>
              <a:t>UCAPKAN: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8760" y="6181344"/>
            <a:ext cx="989380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3395B"/>
                </a:solidFill>
                <a:latin typeface="Aptos"/>
              </a:rPr>
              <a:t>Kesimpulannya, proyek ini menerapkan class sebagai struct, array of struct, referensi objek, dua metode sorting, Linear Search, dan log eksekusi.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